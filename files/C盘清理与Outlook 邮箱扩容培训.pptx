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80" r:id="rId3"/>
    <p:sldId id="279" r:id="rId4"/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7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41" y="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Outlook邮箱本地扩容的操作指南。随着我们使用邮箱时间的增长，本地数据文件（PST）可能会变得过大，导致Outlook运行缓慢甚至出现存储不足的问题。今天，我将为大家详细介绍如何通过创建一个新的PST数据文件来分流邮箱空间，解决这个问题。这份指南将带您一步步完成整个操作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6D69-50E8-4619-832A-05B6C552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2CFC72-0663-8AB3-48D7-E1F7F3137F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5C308-9B58-3CFB-EA8C-C69E22590A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5DF3BA-58B6-41E9-973E-B12504711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4E8228-B040-5166-D50E-BE14E3608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本次分享将分为三个步骤。第一步，我们将学习如何卸载C盘中不再使用的软件。第二步，使用Windows自带工具清理系统缓存。第三步，将企业微信的数据存储路径迁移到D盘或其他盘。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F98AF-D76E-DB9F-4AF9-757AE85DE8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3CDC3-6A81-625F-FA4E-48A96B961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36300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本次分享将分为三个步骤。第一步，我们将学习如何卸载C盘中不再使用的软件。第二步，使用Windows自带工具清理系统缓存。第三步，将企业微信的数据存储路径迁移到D盘或其他盘。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第一步，我们来卸载C盘中不再需要的软件。打开Windows设置，进入“应用和功能”页面，在这里可以看到所有已安装的程序。找到那些你不再使用的软件，点击卸载即可。这是释放C盘空间最直接有效的方法之一。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我们来清理系统缓存。首先使用“磁盘清理”工具，可以安全地删除临时文件和系统更新包。然后，强烈建议开启“存储感知”功能，它可以自动定期清理回收站和下载文件夹里的旧文件，让你的C盘保持整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780D-AAAE-68BF-2106-6E1346DA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FB788B-96E0-9A97-A5E1-F8EE745C9F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1900F-794E-3C8B-1BDF-F06E787C53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778135-FD9B-BC90-20FC-054235E62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66878F-3AB4-CC5E-621A-7274BD2BD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00649-F875-0DC4-E2B2-92CC511238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5EE90-3066-B3B0-E741-1663A537C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79576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36C5F-881E-46DD-2EDD-05972587E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251185-700E-BD87-296F-89BCB28ABF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863BD-7800-7FE5-450B-EB0078B5B5A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A668D8A-622A-BB49-AE35-D890A37BD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D78D93-E3CA-5530-D0D6-8242285AE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AFBAE-F0F2-2B01-4DD2-423B99B701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D2C73-6CBE-81AB-57CC-CAAC905D5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31163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C7F73-21CB-344F-C4B9-4DE8A4844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360144-420F-6D7F-833E-85FF063589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7F33B-BA0E-50B1-351A-60E8CF43DA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3750D5-F6D3-AC50-470D-608B78AE8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FE4AF1-5B9F-E15A-A568-B26310FB3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E94FB-1B85-33B5-17F7-CD77CD4C73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BA8C8-45D2-C0FC-8AF5-FC8BA1ADF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55494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F54E-DBA6-AD9D-B99A-01CDF07C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46BFC4-84E2-D7BB-68CF-15B59CD42D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672AA-33DF-5BA0-A1E6-90825120C6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2A560CE-5F2B-16EB-ACFB-A48FABB1E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5AFA095-79B7-ACF4-EEC0-6A474DEF5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ED8E5-7D01-1AD5-0E30-28842BA961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680CA-BCDB-E836-7D9B-58C2293A6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02418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B0B5-291A-A3E7-2DC7-6A8D947B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25BCAE-CCD8-9390-0EF4-8C61BF6064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F0BFE-8723-2486-70A4-390BBFE77F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A45D552-78E2-1CCE-CA52-6E9DF888C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87947AA-0DB1-632A-E20D-445E6B068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0E659-B9ED-C0E7-F655-9F0A1BD65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7FAFE-7193-C5AA-E0A5-F3ECA0E03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40021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69D1-EFAE-C0C8-E825-268E5C97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19DC5A-EBE5-1385-3FDB-D64130B7E7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F1452-BF7C-4C97-0F9F-BAA9B1E5AE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0CC462-C31E-45A4-5105-428F9B43A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4D45D8-A3BF-C72E-53C4-C61073216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686AC-0DF4-BF52-0174-AA76E08ED8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C143D-0DD4-A689-EF00-A41F90020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42933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58F1E-313E-AC50-738F-60C398C1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935A75-7FF2-51EE-F856-1294F7FA66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9BE64-8366-FA14-6B1F-6EA7E9BE62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4864A6C-A646-F243-9DCE-28938CCE2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12F19F8-E45E-529B-457D-DAE5059E2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3E25A-0C5B-E76B-C6FC-3863D9530E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EA0F3-1819-2FEA-C775-087388039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0370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A714-5712-3F05-A077-36B7627D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9651E8-337C-1A31-271F-63E4343F86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BFC0F-AFDC-10D6-11EC-7711BD7640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DC9411D-3592-CB82-4875-092E333CB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A7DFF2C-64F7-079A-4050-56CD8D6D4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6D8E1-1526-A75F-0E81-F227F82B5E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49D4F-578E-C8CE-C74F-131E09C88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14448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34040-9675-D2E1-94AC-5A138533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45835E-90A9-C493-7511-26601D0C58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398EA-9718-BD06-ABB6-21EDC2195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50D5598-9E07-7EEC-C9CB-3FF95C56F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188F1B-2B05-1F00-3A51-87CC995D6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0F21E-1C0C-1385-ED08-015AD21EA7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AE636-EC10-A1DC-38E2-6F3FCDB62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02831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D5F1-0F5A-5B83-1D25-A3AB1654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AE9C1B-69E9-EAAF-E68F-5088380DAA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E4304-826D-CFA5-3D24-7FC7341C5E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C1A5DF-A02C-EE93-F240-78E5B988C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4552770-B65C-B525-AB26-DC4B40B52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6D6E-F990-6AD1-EADB-AF935FDD49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09CF2-7EF9-7117-230F-E469EF08C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92802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B5147-60FB-9D8D-33AA-0E3CFBA93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027C8B-5D8B-E313-9530-DDD97F3BE1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E7FDD-B618-D05E-202C-EF79DE6A7E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26774D4-20CA-2133-684F-4D4827606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CEDA16B-020D-1913-652C-68B50AB70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也是非常关键的一步，就是迁移企业微信的数据存储路径。企业微信接收的文件默认保存在C盘，时间长了会占用大量空间。我们只需进入设置，找到“文件存储”选项，点击“更改”，将其指向D盘的一个文件夹即可。这样以后接收的文件就不会再占用C盘空间了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D895B-C017-55CA-49B5-764D9AB6B5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D0152-6E33-2707-B8B4-AFDA135A6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0336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84F-A892-45E2-0CF0-161A1459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BA001C-D2A1-2F91-5731-5B8C75721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8D43C-97B9-82DB-58B6-102C247014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0E8D91-6D4D-49D4-D37B-4BD6841B42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1031D8C-B0CC-4D30-2B82-48ED10A50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感谢大家的观看。通过这三个简单的步骤，相信大家已经掌握了清理C盘的核心方法。希望这些技巧能帮助您的电脑释放更多空间，运行得更加流畅。谢谢！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506FB-DFA9-9319-0F46-2458092379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0C2F4-6CFD-0C7A-9946-87D0CAC9F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4080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brr.lanzouw.com/b00yatspsb" TargetMode="Externa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4.sv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sv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jpeg"/><Relationship Id="rId4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jpeg"/><Relationship Id="rId5" Type="http://schemas.openxmlformats.org/officeDocument/2006/relationships/image" Target="../media/image35.svg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28.svg"/><Relationship Id="rId4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4182" y="-342900"/>
            <a:ext cx="11083636" cy="75438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C盘清理与Outlook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邮箱扩容培训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762000" cy="50800"/>
          </a:xfrm>
          <a:prstGeom prst="roundRect">
            <a:avLst>
              <a:gd name="adj" fmla="val 0"/>
            </a:avLst>
          </a:prstGeom>
          <a:solidFill>
            <a:srgbClr val="5B9BD5">
              <a:alpha val="100000"/>
            </a:srgbClr>
          </a:solidFill>
          <a:ln cap="flat" cmpd="sng">
            <a:solidFill>
              <a:srgbClr val="3D80B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5B9BD5">
              <a:alpha val="10000"/>
            </a:srgbClr>
          </a:solidFill>
          <a:ln cap="flat" cmpd="sng">
            <a:solidFill>
              <a:srgbClr val="3D80B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43000" y="5461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解决存储告警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释放本地磁盘空间，彻底告别</a:t>
            </a:r>
            <a:r>
              <a:rPr kumimoji="0" lang="en-US" altLang="zh-CN" sz="1300" b="0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盘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容量不足的弹窗提示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08500" y="5334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5B9BD5">
              <a:alpha val="10000"/>
            </a:srgbClr>
          </a:solidFill>
          <a:ln cap="flat" cmpd="sng">
            <a:solidFill>
              <a:srgbClr val="3D80B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635500" y="5461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提升运行效率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减轻主数据文件负载，大幅加速Outlook启动与响应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001000" y="5334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5B9BD5">
              <a:alpha val="10000"/>
            </a:srgbClr>
          </a:solidFill>
          <a:ln cap="flat" cmpd="sng">
            <a:solidFill>
              <a:srgbClr val="3D80B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5461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数据分类归档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按年份建立独立归档，检索更高效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DACB1-1435-514A-20DF-8837F643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>
            <a:extLst>
              <a:ext uri="{FF2B5EF4-FFF2-40B4-BE49-F238E27FC236}">
                <a16:creationId xmlns:a16="http://schemas.microsoft.com/office/drawing/2014/main" id="{B0A8900B-0476-D120-7C5A-B527A51EBA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3">
            <a:extLst>
              <a:ext uri="{FF2B5EF4-FFF2-40B4-BE49-F238E27FC236}">
                <a16:creationId xmlns:a16="http://schemas.microsoft.com/office/drawing/2014/main" id="{046617B9-49A9-E203-0AB9-5A259BCB0238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培训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内容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117B1ABD-CF9A-2C5D-41A7-FA6721AD209D}"/>
              </a:ext>
            </a:extLst>
          </p:cNvPr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DF238F34-33EF-DAAF-CB16-B0127EEC4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24" name="AutoShape 6">
            <a:extLst>
              <a:ext uri="{FF2B5EF4-FFF2-40B4-BE49-F238E27FC236}">
                <a16:creationId xmlns:a16="http://schemas.microsoft.com/office/drawing/2014/main" id="{37FFD77E-05AD-0BCF-A176-E6CEF6F1462D}"/>
              </a:ext>
            </a:extLst>
          </p:cNvPr>
          <p:cNvSpPr/>
          <p:nvPr/>
        </p:nvSpPr>
        <p:spPr>
          <a:xfrm>
            <a:off x="1524000" y="2057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C盘清理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5" name="Connector 7">
            <a:extLst>
              <a:ext uri="{FF2B5EF4-FFF2-40B4-BE49-F238E27FC236}">
                <a16:creationId xmlns:a16="http://schemas.microsoft.com/office/drawing/2014/main" id="{918C0692-F0AD-E90D-D5D4-45660CC74B08}"/>
              </a:ext>
            </a:extLst>
          </p:cNvPr>
          <p:cNvCxnSpPr/>
          <p:nvPr/>
        </p:nvCxnSpPr>
        <p:spPr>
          <a:xfrm rot="21590709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8">
            <a:extLst>
              <a:ext uri="{FF2B5EF4-FFF2-40B4-BE49-F238E27FC236}">
                <a16:creationId xmlns:a16="http://schemas.microsoft.com/office/drawing/2014/main" id="{604E89C5-E19D-65F0-C7D4-DF29AB1CC542}"/>
              </a:ext>
            </a:extLst>
          </p:cNvPr>
          <p:cNvSpPr/>
          <p:nvPr/>
        </p:nvSpPr>
        <p:spPr>
          <a:xfrm>
            <a:off x="1016000" y="29845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深入解析C盘空间告急的根本原因，精准定位系统冗余、隐藏文件与软件缓存占用源头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掌握安全可靠的清理策略，学习如何规避误删系统关键文件的风险，保障系统稳定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系统级深度清理实操：清理临时文件、更新缓存、日志文件及浏览器冗余数据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大文件智能检索技巧，以及如何将大型文件安全迁移至其他磁盘，释放系统盘空间</a:t>
            </a:r>
          </a:p>
        </p:txBody>
      </p:sp>
      <p:sp>
        <p:nvSpPr>
          <p:cNvPr id="27" name="AutoShape 9">
            <a:extLst>
              <a:ext uri="{FF2B5EF4-FFF2-40B4-BE49-F238E27FC236}">
                <a16:creationId xmlns:a16="http://schemas.microsoft.com/office/drawing/2014/main" id="{B012C304-4609-AF9B-4AE0-FC41603556AB}"/>
              </a:ext>
            </a:extLst>
          </p:cNvPr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10">
            <a:extLst>
              <a:ext uri="{FF2B5EF4-FFF2-40B4-BE49-F238E27FC236}">
                <a16:creationId xmlns:a16="http://schemas.microsoft.com/office/drawing/2014/main" id="{2F7008DE-9405-CE94-4A53-FE1750EF56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95500"/>
            <a:ext cx="406400" cy="406400"/>
          </a:xfrm>
          <a:prstGeom prst="rect">
            <a:avLst/>
          </a:prstGeom>
        </p:spPr>
      </p:pic>
      <p:sp>
        <p:nvSpPr>
          <p:cNvPr id="29" name="AutoShape 11">
            <a:extLst>
              <a:ext uri="{FF2B5EF4-FFF2-40B4-BE49-F238E27FC236}">
                <a16:creationId xmlns:a16="http://schemas.microsoft.com/office/drawing/2014/main" id="{8C7E51A9-3D38-B2D8-798C-AD7C61702EA7}"/>
              </a:ext>
            </a:extLst>
          </p:cNvPr>
          <p:cNvSpPr/>
          <p:nvPr/>
        </p:nvSpPr>
        <p:spPr>
          <a:xfrm>
            <a:off x="6985000" y="2057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Outlook邮箱扩容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0" name="Connector 12">
            <a:extLst>
              <a:ext uri="{FF2B5EF4-FFF2-40B4-BE49-F238E27FC236}">
                <a16:creationId xmlns:a16="http://schemas.microsoft.com/office/drawing/2014/main" id="{8EDBE4D3-BA7B-D13F-26E5-3E2F04F7E998}"/>
              </a:ext>
            </a:extLst>
          </p:cNvPr>
          <p:cNvCxnSpPr/>
          <p:nvPr/>
        </p:nvCxnSpPr>
        <p:spPr>
          <a:xfrm rot="21590709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13">
            <a:extLst>
              <a:ext uri="{FF2B5EF4-FFF2-40B4-BE49-F238E27FC236}">
                <a16:creationId xmlns:a16="http://schemas.microsoft.com/office/drawing/2014/main" id="{34CE2D40-5FDF-69EF-7010-D50CC5BC31B3}"/>
              </a:ext>
            </a:extLst>
          </p:cNvPr>
          <p:cNvSpPr/>
          <p:nvPr/>
        </p:nvSpPr>
        <p:spPr>
          <a:xfrm>
            <a:off x="6477000" y="29845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全面解析PST与OST数据文件的区别与用途，理解Outlook本地存储的底层逻辑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实操演示：如何新建独立的PST数据文件，实现本地邮箱存储空间的灵活扩容与分流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详细的分步操作指南，涵盖文件路径选择、命名规范及关键设置的避坑提示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建立科学的邮箱归档与维护习惯，定期清理、备份与整理，保持邮件系统高效运行</a:t>
            </a:r>
          </a:p>
        </p:txBody>
      </p:sp>
    </p:spTree>
    <p:extLst>
      <p:ext uri="{BB962C8B-B14F-4D97-AF65-F5344CB8AC3E}">
        <p14:creationId xmlns:p14="http://schemas.microsoft.com/office/powerpoint/2010/main" val="311625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2540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第一部分：</a:t>
            </a:r>
            <a:r>
              <a:rPr lang="en-US" sz="4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C盘清理三步法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4000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轻松释放磁盘空间，让电脑运行更流畅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3302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5232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卸载冗余软件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5651500"/>
            <a:ext cx="292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彻底移除不常用的大型应用与预装软件，释放基础存储资源。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5080000"/>
            <a:ext cx="3302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5232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清理系统缓存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5651500"/>
            <a:ext cx="292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清理系统更新残留、临时文件及浏览器缓存，回收隐形占用空间。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0" y="5080000"/>
            <a:ext cx="3302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500" y="5232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4455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迁移数据文件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64500" y="5651500"/>
            <a:ext cx="292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将文档、下载及软件安装目录迁移至其他分区，从根源解决爆满。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0" y="2476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42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卸载无用软件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0640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彻底清理C盘中不再使用的程序与安装包，释放被长期占用的磁盘空间，从源头减少系统盘负载。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159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48200" y="241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4200" y="2476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48200" y="342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清理系统缓存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48200" y="40640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利用系统自带的磁盘清理工具，深度扫描并删除临时文件、更新缓存与日志文件，释放隐藏空间。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159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80400" y="241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6400" y="2476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280400" y="342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迁移企业微信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80400" y="40640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更改企业微信的默认数据存储路径，将聊天记录、文件缓存迁移至非系统盘，防止C盘空间持续告急。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按照这三个核心步骤操作，可有效解决C盘空间不足问题，显著提升电脑运行流畅度。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第一步：卸载无用软件</a:t>
            </a:r>
            <a:endParaRPr lang="en-US" sz="110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CCE33F2-7327-24E1-C2D5-88BBDACF8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287272"/>
            <a:ext cx="10418952" cy="5399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第二步：清理缓存与开启存储感知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5270500" cy="450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dirty="0"/>
              <a:t>、</a:t>
            </a: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磁盘清理：释放冗余系统文件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3006" b="3006"/>
          <a:stretch>
            <a:fillRect/>
          </a:stretch>
        </p:blipFill>
        <p:spPr>
          <a:xfrm>
            <a:off x="1016000" y="2476500"/>
            <a:ext cx="1841500" cy="2222500"/>
          </a:xfrm>
          <a:prstGeom prst="roundRect">
            <a:avLst>
              <a:gd name="adj" fmla="val 6896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048000" y="2476500"/>
            <a:ext cx="27305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altLang="zh-CN" sz="1400" b="1" i="0" u="none" strike="noStrike" dirty="0" err="1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win+r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r>
              <a:rPr lang="zh-CN" altLang="zh-CN" b="1" dirty="0">
                <a:solidFill>
                  <a:schemeClr val="accent1"/>
                </a:solidFill>
              </a:rPr>
              <a:t>cleanmgr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要清理的磁盘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 → “</a:t>
            </a:r>
            <a:r>
              <a:rPr lang="en-US" altLang="zh-CN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盘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勾选“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临时文件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”、“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下载”等冗余项，确认清理</a:t>
            </a:r>
            <a:endParaRPr lang="en-US" sz="14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进阶：</a:t>
            </a:r>
            <a:r>
              <a:rPr lang="en-US" altLang="zh-CN" sz="1400" b="1" i="0" u="none" strike="noStrike" dirty="0" err="1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win+r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分别输入</a:t>
            </a:r>
            <a:r>
              <a:rPr lang="zh-CN" altLang="zh-CN" b="1" dirty="0">
                <a:solidFill>
                  <a:schemeClr val="accent1"/>
                </a:solidFill>
              </a:rPr>
              <a:t>%temp%</a:t>
            </a:r>
            <a:r>
              <a:rPr lang="zh-CN" altLang="en-US" dirty="0"/>
              <a:t>、</a:t>
            </a:r>
            <a:r>
              <a:rPr lang="zh-CN" altLang="zh-CN" dirty="0"/>
              <a:t> </a:t>
            </a:r>
            <a:r>
              <a:rPr lang="zh-CN" altLang="zh-CN" b="1" dirty="0">
                <a:solidFill>
                  <a:schemeClr val="accent1"/>
                </a:solidFill>
              </a:rPr>
              <a:t>temp</a:t>
            </a:r>
            <a:r>
              <a:rPr lang="zh-CN" altLang="en-US" dirty="0"/>
              <a:t>，将里面的文件夹全部删除</a:t>
            </a:r>
            <a:endParaRPr lang="en-US" altLang="zh-CN" dirty="0">
              <a:solidFill>
                <a:srgbClr val="374151"/>
              </a:solidFill>
              <a:latin typeface="Noto Sans SC"/>
              <a:ea typeface="Noto Sans SC"/>
              <a:sym typeface="Noto Sans SC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（删不掉的点跳过）</a:t>
            </a:r>
            <a:endParaRPr lang="en-US" altLang="zh-CN" dirty="0"/>
          </a:p>
        </p:txBody>
      </p:sp>
      <p:sp>
        <p:nvSpPr>
          <p:cNvPr id="8" name="AutoShape 8"/>
          <p:cNvSpPr/>
          <p:nvPr/>
        </p:nvSpPr>
        <p:spPr>
          <a:xfrm>
            <a:off x="1016000" y="5143500"/>
            <a:ext cx="47625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5270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3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此操作可安全释放数GB空间，建议每月执行一次，是清理系统垃圾的最直接方式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1587500"/>
            <a:ext cx="5270500" cy="450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1" name="AutoShape 11"/>
          <p:cNvSpPr/>
          <p:nvPr/>
        </p:nvSpPr>
        <p:spPr>
          <a:xfrm>
            <a:off x="6477000" y="1841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存储感知：智能自动维护机制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09000" y="2476500"/>
            <a:ext cx="27305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打开设置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进入“系统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 →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选择“存储”选项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开启“存储感知”总开关，启用系统自动清理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（第一次开启可以立即运行一次存储感知）</a:t>
            </a:r>
            <a:endParaRPr lang="en-US" sz="14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自定义规则：设置自动删除回收站或下载夹中超过30天的文件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77000" y="5143500"/>
            <a:ext cx="47625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5270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⚡ </a:t>
            </a:r>
            <a:r>
              <a:rPr lang="en-US" sz="13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这是一劳永逸的方案，能自动防止文件堆积，让C盘时刻保持“呼吸”空间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E1AAD21-D3A5-10F1-5BC4-F18D041A2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399561"/>
            <a:ext cx="2158340" cy="25851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第三步：迁移企业微信存储路径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1905000"/>
            <a:ext cx="279400" cy="279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52600"/>
            <a:ext cx="457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进入设置界面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打开企业微信客户端，点击左下角的齿轮状“设置”图标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29082" y="1651000"/>
            <a:ext cx="5334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2059" y="19050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1714500"/>
            <a:ext cx="457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altLang="zh-CN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.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更改存储位置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点击“更改”按钮，将路径修改为D盘或其他非系统盘的新建文件夹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AC55CDB-425A-7FC5-5396-E86430F29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2805952"/>
            <a:ext cx="5365944" cy="344059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F8254A3-FBA3-6486-6030-620379107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082" y="2805952"/>
            <a:ext cx="5365944" cy="3440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7632-1688-32CD-5B46-3EA34EF1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74339A9-5E45-8B35-D4F8-D086CA8C92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E97B76B-5FD8-3392-E2C3-B4A75AB83935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最后</a:t>
            </a:r>
            <a:r>
              <a:rPr lang="en-US" sz="20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：</a:t>
            </a:r>
            <a:r>
              <a:rPr lang="zh-CN" altLang="en-US" sz="20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提供一个软件：</a:t>
            </a:r>
            <a:r>
              <a:rPr lang="zh-CN" altLang="zh-CN" sz="2000" b="1" dirty="0">
                <a:solidFill>
                  <a:srgbClr val="1F2937"/>
                </a:solidFill>
                <a:latin typeface="Noto Sans SC"/>
                <a:ea typeface="Noto Sans SC"/>
              </a:rPr>
              <a:t>Wise Disk Cleaner（C盘垃圾清理）</a:t>
            </a:r>
            <a:r>
              <a:rPr lang="en-US" altLang="zh-CN" sz="20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endParaRPr lang="en-US" sz="2000" b="1" dirty="0">
              <a:solidFill>
                <a:srgbClr val="1F2937"/>
              </a:solidFill>
              <a:latin typeface="Noto Sans SC"/>
              <a:ea typeface="Noto Sans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9047716-298C-FF61-ACB4-780681FD3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16" y="1143000"/>
            <a:ext cx="8401295" cy="556131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30BB551-C7F1-B54C-D4ED-C173C342FFB9}"/>
              </a:ext>
            </a:extLst>
          </p:cNvPr>
          <p:cNvSpPr txBox="1"/>
          <p:nvPr/>
        </p:nvSpPr>
        <p:spPr>
          <a:xfrm>
            <a:off x="9735671" y="1828800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蓝奏云分享</a:t>
            </a:r>
            <a:br>
              <a:rPr lang="zh-CN" altLang="zh-CN" dirty="0"/>
            </a:br>
            <a:r>
              <a:rPr lang="zh-CN" altLang="zh-CN" dirty="0"/>
              <a:t>下载链接：</a:t>
            </a:r>
            <a:r>
              <a:rPr lang="zh-CN" altLang="zh-CN" b="1" u="sng" dirty="0">
                <a:hlinkClick r:id="rId5"/>
              </a:rPr>
              <a:t>https://wwbrr.lanzouw.com/b00yatspsb</a:t>
            </a:r>
            <a:br>
              <a:rPr lang="zh-CN" altLang="zh-CN" dirty="0"/>
            </a:br>
            <a:r>
              <a:rPr lang="zh-CN" altLang="zh-CN" dirty="0"/>
              <a:t>提取码：52pj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234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925CD-D46E-7031-62A7-50034D97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2BF5A43-8B5C-2626-F07C-D4DD4F9FFD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C2F52AB-3CE7-D343-0201-9745D7AC1044}"/>
              </a:ext>
            </a:extLst>
          </p:cNvPr>
          <p:cNvSpPr/>
          <p:nvPr/>
        </p:nvSpPr>
        <p:spPr>
          <a:xfrm>
            <a:off x="1016000" y="2540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</a:t>
            </a:r>
            <a:r>
              <a:rPr lang="en-US" altLang="zh-CN" sz="4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altLang="zh-CN" sz="4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Outlook </a:t>
            </a:r>
            <a:r>
              <a:rPr lang="zh-CN" altLang="en-US" sz="4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邮箱扩容</a:t>
            </a:r>
            <a:r>
              <a:rPr lang="en-US" altLang="zh-CN" sz="4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4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无规则</a:t>
            </a:r>
            <a:r>
              <a:rPr lang="en-US" altLang="zh-CN" sz="4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EE3A750-848A-5CAE-4C87-D37DE46DDD79}"/>
              </a:ext>
            </a:extLst>
          </p:cNvPr>
          <p:cNvSpPr/>
          <p:nvPr/>
        </p:nvSpPr>
        <p:spPr>
          <a:xfrm>
            <a:off x="1016000" y="4000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725DFB0F-E9B7-856A-F357-B3995EAD6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4500" y="52324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3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1556B8-DDB3-B91C-4999-FBCE8C84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F2DCCE7-E4DC-0EEF-CC9E-40FBBD1DD7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6D4670CA-5B93-ABBC-05B9-F74D1C91A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EEF6F64A-286B-302E-19E5-8E31C6DB23A8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第一步：打开Outlook进入文件页面</a:t>
            </a:r>
            <a:endParaRPr lang="en-US" sz="1100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3E03109-7A1E-1741-13AC-CB42E157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" r="38"/>
          <a:stretch>
            <a:fillRect/>
          </a:stretch>
        </p:blipFill>
        <p:spPr>
          <a:xfrm>
            <a:off x="762000" y="1778000"/>
            <a:ext cx="5080000" cy="2463800"/>
          </a:xfrm>
          <a:prstGeom prst="rect">
            <a:avLst/>
          </a:prstGeom>
          <a:noFill/>
          <a:ln w="25400" cap="flat" cmpd="sng">
            <a:solidFill>
              <a:srgbClr val="5B9BD5">
                <a:alpha val="4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8" name="AutoShape 5">
            <a:extLst>
              <a:ext uri="{FF2B5EF4-FFF2-40B4-BE49-F238E27FC236}">
                <a16:creationId xmlns:a16="http://schemas.microsoft.com/office/drawing/2014/main" id="{6ECF2D66-4CF0-8CB5-04F4-8447B46FFF9F}"/>
              </a:ext>
            </a:extLst>
          </p:cNvPr>
          <p:cNvSpPr/>
          <p:nvPr/>
        </p:nvSpPr>
        <p:spPr>
          <a:xfrm>
            <a:off x="762000" y="4572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如图所示，在 Outlook 主界面的左上角，您可以清晰地看到【文件】选项卡。这是访问账户设置、信息管理以及后续配置的首要入口，点击后将展开后台功能菜单。</a:t>
            </a:r>
            <a:endParaRPr lang="en-US" sz="1100"/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EEFD61A2-971F-F3DE-74C5-BDE497BDCC9A}"/>
              </a:ext>
            </a:extLst>
          </p:cNvPr>
          <p:cNvSpPr/>
          <p:nvPr/>
        </p:nvSpPr>
        <p:spPr>
          <a:xfrm>
            <a:off x="6223000" y="1778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689CF60B-E9AC-C2E3-B7CE-579EF1F42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06600"/>
            <a:ext cx="406400" cy="406400"/>
          </a:xfrm>
          <a:prstGeom prst="rect">
            <a:avLst/>
          </a:prstGeom>
        </p:spPr>
      </p:pic>
      <p:sp>
        <p:nvSpPr>
          <p:cNvPr id="24" name="AutoShape 8">
            <a:extLst>
              <a:ext uri="{FF2B5EF4-FFF2-40B4-BE49-F238E27FC236}">
                <a16:creationId xmlns:a16="http://schemas.microsoft.com/office/drawing/2014/main" id="{DD674140-E3C7-9A65-D129-E414727D408F}"/>
              </a:ext>
            </a:extLst>
          </p:cNvPr>
          <p:cNvSpPr/>
          <p:nvPr/>
        </p:nvSpPr>
        <p:spPr>
          <a:xfrm>
            <a:off x="7048500" y="1930400"/>
            <a:ext cx="450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800" b="1" i="0" u="none" strike="noStrike" dirty="0" err="1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启动</a:t>
            </a:r>
            <a:r>
              <a:rPr lang="en-US" sz="1800" b="1" i="0" u="none" strike="noStrike" dirty="0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 Outlook </a:t>
            </a:r>
            <a:r>
              <a:rPr lang="en-US" sz="1800" b="1" i="0" u="none" strike="noStrike" dirty="0" err="1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在电脑桌面找到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Outlook </a:t>
            </a: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快捷方式并双击打开。若未找到，可通过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Windows </a:t>
            </a: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开始菜单搜索栏输入“Outlook”进行快速启动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869A76C0-BCD4-2B5C-7F3B-588C6094F53F}"/>
              </a:ext>
            </a:extLst>
          </p:cNvPr>
          <p:cNvSpPr/>
          <p:nvPr/>
        </p:nvSpPr>
        <p:spPr>
          <a:xfrm>
            <a:off x="6223000" y="3429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10">
            <a:extLst>
              <a:ext uri="{FF2B5EF4-FFF2-40B4-BE49-F238E27FC236}">
                <a16:creationId xmlns:a16="http://schemas.microsoft.com/office/drawing/2014/main" id="{3A7EA78E-1A04-4845-70E4-61883C5EE1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657600"/>
            <a:ext cx="406400" cy="406400"/>
          </a:xfrm>
          <a:prstGeom prst="rect">
            <a:avLst/>
          </a:prstGeom>
        </p:spPr>
      </p:pic>
      <p:sp>
        <p:nvSpPr>
          <p:cNvPr id="30" name="AutoShape 11">
            <a:extLst>
              <a:ext uri="{FF2B5EF4-FFF2-40B4-BE49-F238E27FC236}">
                <a16:creationId xmlns:a16="http://schemas.microsoft.com/office/drawing/2014/main" id="{84A5350E-E912-E175-2E83-B04C2C0FA993}"/>
              </a:ext>
            </a:extLst>
          </p:cNvPr>
          <p:cNvSpPr/>
          <p:nvPr/>
        </p:nvSpPr>
        <p:spPr>
          <a:xfrm>
            <a:off x="7048500" y="3581400"/>
            <a:ext cx="450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800" b="1" i="0" u="none" strike="noStrike" dirty="0" err="1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点击【文件】选项卡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待软件完全加载后，在界面左上角的导航栏中，点击蓝色背景的【文件】选项卡，进入包含账户信息、设置和帮助的后台管理中心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9456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D2474-9DCC-EFB6-CA7D-8B455FEB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52BCEE74-5E6B-4DEC-39AA-3075C9B7E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F06BD07D-99D5-8D16-9F6B-B3E1ABF6F587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第二步：打开账户设置入口</a:t>
            </a:r>
            <a:endParaRPr lang="en-US" sz="110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B1F2D9E-73AD-6FFB-60AF-FDE5E33AD6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" r="103"/>
          <a:stretch>
            <a:fillRect/>
          </a:stretch>
        </p:blipFill>
        <p:spPr>
          <a:xfrm>
            <a:off x="762000" y="1905000"/>
            <a:ext cx="4318000" cy="2870200"/>
          </a:xfrm>
          <a:prstGeom prst="rect">
            <a:avLst/>
          </a:prstGeom>
          <a:noFill/>
          <a:ln w="12700" cap="flat" cmpd="sng">
            <a:solidFill>
              <a:srgbClr val="5B9BD5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9" name="AutoShape 5">
            <a:extLst>
              <a:ext uri="{FF2B5EF4-FFF2-40B4-BE49-F238E27FC236}">
                <a16:creationId xmlns:a16="http://schemas.microsoft.com/office/drawing/2014/main" id="{85A7525B-AAD9-8CA1-0B97-AA796C0CD346}"/>
              </a:ext>
            </a:extLst>
          </p:cNvPr>
          <p:cNvSpPr/>
          <p:nvPr/>
        </p:nvSpPr>
        <p:spPr>
          <a:xfrm>
            <a:off x="762000" y="5080000"/>
            <a:ext cx="4318000" cy="1016000"/>
          </a:xfrm>
          <a:prstGeom prst="roundRect">
            <a:avLst>
              <a:gd name="adj" fmla="val 0"/>
            </a:avLst>
          </a:prstGeom>
          <a:solidFill>
            <a:srgbClr val="5B9BD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3B75894-1CD9-A126-B302-C13638881DAC}"/>
              </a:ext>
            </a:extLst>
          </p:cNvPr>
          <p:cNvSpPr/>
          <p:nvPr/>
        </p:nvSpPr>
        <p:spPr>
          <a:xfrm>
            <a:off x="889000" y="5207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300" b="1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</a:t>
            </a: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此弹窗是配置邮箱连接、同步日历及联系人的核心枢纽，请务必确保准确进入此界面，避免误操作。</a:t>
            </a:r>
            <a:endParaRPr lang="en-US" sz="1100"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488E970F-B70E-AE1D-E305-06754CA95717}"/>
              </a:ext>
            </a:extLst>
          </p:cNvPr>
          <p:cNvSpPr/>
          <p:nvPr/>
        </p:nvSpPr>
        <p:spPr>
          <a:xfrm>
            <a:off x="5588000" y="1905000"/>
            <a:ext cx="58420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22B88091-3DA3-47F7-3C15-97BA3EF1F4D6}"/>
              </a:ext>
            </a:extLst>
          </p:cNvPr>
          <p:cNvSpPr/>
          <p:nvPr/>
        </p:nvSpPr>
        <p:spPr>
          <a:xfrm>
            <a:off x="5588000" y="1905000"/>
            <a:ext cx="508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1574F8CC-03B4-C537-AD79-5BE82F4CE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6600" y="2095500"/>
            <a:ext cx="355600" cy="355600"/>
          </a:xfrm>
          <a:prstGeom prst="rect">
            <a:avLst/>
          </a:prstGeom>
        </p:spPr>
      </p:pic>
      <p:sp>
        <p:nvSpPr>
          <p:cNvPr id="19" name="AutoShape 10">
            <a:extLst>
              <a:ext uri="{FF2B5EF4-FFF2-40B4-BE49-F238E27FC236}">
                <a16:creationId xmlns:a16="http://schemas.microsoft.com/office/drawing/2014/main" id="{9D61CA42-B16F-9C8D-DF4B-79660B73F688}"/>
              </a:ext>
            </a:extLst>
          </p:cNvPr>
          <p:cNvSpPr/>
          <p:nvPr/>
        </p:nvSpPr>
        <p:spPr>
          <a:xfrm>
            <a:off x="6324600" y="2032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定位核心入口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进入【文件】页面后，在界面中部显眼位置找到【账户设置】选项，该选项通常位于个人信息展示区域的下方。</a:t>
            </a:r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0E75C6D5-ABE8-7885-D9F7-18CFA8C736DB}"/>
              </a:ext>
            </a:extLst>
          </p:cNvPr>
          <p:cNvSpPr/>
          <p:nvPr/>
        </p:nvSpPr>
        <p:spPr>
          <a:xfrm>
            <a:off x="5588000" y="3302000"/>
            <a:ext cx="58420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613C2890-9B7D-7CF9-39FC-16C85D21BB19}"/>
              </a:ext>
            </a:extLst>
          </p:cNvPr>
          <p:cNvSpPr/>
          <p:nvPr/>
        </p:nvSpPr>
        <p:spPr>
          <a:xfrm>
            <a:off x="5588000" y="3302000"/>
            <a:ext cx="508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13">
            <a:extLst>
              <a:ext uri="{FF2B5EF4-FFF2-40B4-BE49-F238E27FC236}">
                <a16:creationId xmlns:a16="http://schemas.microsoft.com/office/drawing/2014/main" id="{1257B052-7C22-DA82-6D05-C4A7FF5B2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600" y="3492500"/>
            <a:ext cx="355600" cy="355600"/>
          </a:xfrm>
          <a:prstGeom prst="rect">
            <a:avLst/>
          </a:prstGeom>
        </p:spPr>
      </p:pic>
      <p:sp>
        <p:nvSpPr>
          <p:cNvPr id="27" name="AutoShape 14">
            <a:extLst>
              <a:ext uri="{FF2B5EF4-FFF2-40B4-BE49-F238E27FC236}">
                <a16:creationId xmlns:a16="http://schemas.microsoft.com/office/drawing/2014/main" id="{4E2BA389-5440-E40D-9569-1EA4EE442F5E}"/>
              </a:ext>
            </a:extLst>
          </p:cNvPr>
          <p:cNvSpPr/>
          <p:nvPr/>
        </p:nvSpPr>
        <p:spPr>
          <a:xfrm>
            <a:off x="6324600" y="342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展开功能菜单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鼠标点击【账户设置】选项，系统将展开下拉菜单，显示包含账户管理、配置文件等在内的更多功能选项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6F636F3E-A7B2-F5C9-612B-B24C9BEFEEAB}"/>
              </a:ext>
            </a:extLst>
          </p:cNvPr>
          <p:cNvSpPr/>
          <p:nvPr/>
        </p:nvSpPr>
        <p:spPr>
          <a:xfrm>
            <a:off x="5588000" y="4699000"/>
            <a:ext cx="58420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BF5B9D7C-C3A3-C925-1EB3-FB0770CECC07}"/>
              </a:ext>
            </a:extLst>
          </p:cNvPr>
          <p:cNvSpPr/>
          <p:nvPr/>
        </p:nvSpPr>
        <p:spPr>
          <a:xfrm>
            <a:off x="5588000" y="4699000"/>
            <a:ext cx="508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17">
            <a:extLst>
              <a:ext uri="{FF2B5EF4-FFF2-40B4-BE49-F238E27FC236}">
                <a16:creationId xmlns:a16="http://schemas.microsoft.com/office/drawing/2014/main" id="{5CE763EF-2D51-13AA-AB98-E61DBB63B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6600" y="4889500"/>
            <a:ext cx="355600" cy="355600"/>
          </a:xfrm>
          <a:prstGeom prst="rect">
            <a:avLst/>
          </a:prstGeom>
        </p:spPr>
      </p:pic>
      <p:sp>
        <p:nvSpPr>
          <p:cNvPr id="35" name="AutoShape 18">
            <a:extLst>
              <a:ext uri="{FF2B5EF4-FFF2-40B4-BE49-F238E27FC236}">
                <a16:creationId xmlns:a16="http://schemas.microsoft.com/office/drawing/2014/main" id="{5A634E8C-CC71-4D7A-0F1F-C2EFA3D252A8}"/>
              </a:ext>
            </a:extLst>
          </p:cNvPr>
          <p:cNvSpPr/>
          <p:nvPr/>
        </p:nvSpPr>
        <p:spPr>
          <a:xfrm>
            <a:off x="6324600" y="4826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唤起设置弹窗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在展开的下拉菜单中，再次点击【账户设置】选项，即可打开独立的设置弹窗，这是进行后续配置的关键窗口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716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ED6E3-6361-BFA9-D5C3-EEB2FF79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7692E8C5-874E-E00A-4CCB-437543C242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2A031871-0DBC-F476-EA5A-160756459AEA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第三步：切换至数据文件栏目</a:t>
            </a:r>
            <a:endParaRPr lang="en-US" sz="110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BFD3B7A-DE51-8FA9-B8CD-46A7DAE6D3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" b="25"/>
          <a:stretch>
            <a:fillRect/>
          </a:stretch>
        </p:blipFill>
        <p:spPr>
          <a:xfrm>
            <a:off x="762000" y="2032000"/>
            <a:ext cx="4064000" cy="3378200"/>
          </a:xfrm>
          <a:prstGeom prst="rect">
            <a:avLst/>
          </a:prstGeom>
          <a:noFill/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0" name="AutoShape 5">
            <a:extLst>
              <a:ext uri="{FF2B5EF4-FFF2-40B4-BE49-F238E27FC236}">
                <a16:creationId xmlns:a16="http://schemas.microsoft.com/office/drawing/2014/main" id="{EADA9DD8-1BA6-C83C-CA6D-6EE4500B0B9E}"/>
              </a:ext>
            </a:extLst>
          </p:cNvPr>
          <p:cNvSpPr/>
          <p:nvPr/>
        </p:nvSpPr>
        <p:spPr>
          <a:xfrm>
            <a:off x="762000" y="558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图示：账户设置窗口中高亮的「数据文件」标签页</a:t>
            </a:r>
            <a:endParaRPr lang="en-US" sz="1100" dirty="0"/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231F940B-18C4-3CA9-A9E7-B922C26D181B}"/>
              </a:ext>
            </a:extLst>
          </p:cNvPr>
          <p:cNvSpPr/>
          <p:nvPr/>
        </p:nvSpPr>
        <p:spPr>
          <a:xfrm>
            <a:off x="5334000" y="19685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E0379107-F11A-84CF-0592-D43BA649F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2222500"/>
            <a:ext cx="406400" cy="406400"/>
          </a:xfrm>
          <a:prstGeom prst="rect">
            <a:avLst/>
          </a:prstGeom>
        </p:spPr>
      </p:pic>
      <p:sp>
        <p:nvSpPr>
          <p:cNvPr id="21" name="AutoShape 8">
            <a:extLst>
              <a:ext uri="{FF2B5EF4-FFF2-40B4-BE49-F238E27FC236}">
                <a16:creationId xmlns:a16="http://schemas.microsoft.com/office/drawing/2014/main" id="{5AB3F4F8-E37C-401E-5840-4D28BB7A566D}"/>
              </a:ext>
            </a:extLst>
          </p:cNvPr>
          <p:cNvSpPr/>
          <p:nvPr/>
        </p:nvSpPr>
        <p:spPr>
          <a:xfrm>
            <a:off x="6159500" y="20955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01 定位菜单栏区域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在弹出的【账户设置】窗口中，找到界面顶部的导航菜单栏，这是切换功能的核心入口，包含各类配置选项。</a:t>
            </a:r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C05FDB0D-1AE8-DA02-56E7-E1F4C0ADA0FA}"/>
              </a:ext>
            </a:extLst>
          </p:cNvPr>
          <p:cNvSpPr/>
          <p:nvPr/>
        </p:nvSpPr>
        <p:spPr>
          <a:xfrm>
            <a:off x="5334000" y="3429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10">
            <a:extLst>
              <a:ext uri="{FF2B5EF4-FFF2-40B4-BE49-F238E27FC236}">
                <a16:creationId xmlns:a16="http://schemas.microsoft.com/office/drawing/2014/main" id="{07DC526A-4AFB-86BB-E2BE-D5E6DD95D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0" y="3683000"/>
            <a:ext cx="406400" cy="406400"/>
          </a:xfrm>
          <a:prstGeom prst="rect">
            <a:avLst/>
          </a:prstGeom>
        </p:spPr>
      </p:pic>
      <p:sp>
        <p:nvSpPr>
          <p:cNvPr id="33" name="AutoShape 11">
            <a:extLst>
              <a:ext uri="{FF2B5EF4-FFF2-40B4-BE49-F238E27FC236}">
                <a16:creationId xmlns:a16="http://schemas.microsoft.com/office/drawing/2014/main" id="{040F1D3E-06F2-0460-3E96-AA4BD90C2EF5}"/>
              </a:ext>
            </a:extLst>
          </p:cNvPr>
          <p:cNvSpPr/>
          <p:nvPr/>
        </p:nvSpPr>
        <p:spPr>
          <a:xfrm>
            <a:off x="6159500" y="3556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02 切换至「数据文件」标签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在菜单栏中找到并点击【数据文件】选项卡，系统将即时刷新并展示对应功能页面，进入数据管理界面。</a:t>
            </a:r>
          </a:p>
        </p:txBody>
      </p:sp>
      <p:sp>
        <p:nvSpPr>
          <p:cNvPr id="37" name="AutoShape 12">
            <a:extLst>
              <a:ext uri="{FF2B5EF4-FFF2-40B4-BE49-F238E27FC236}">
                <a16:creationId xmlns:a16="http://schemas.microsoft.com/office/drawing/2014/main" id="{52195795-5146-C379-B4EE-B99A17EC5AA8}"/>
              </a:ext>
            </a:extLst>
          </p:cNvPr>
          <p:cNvSpPr/>
          <p:nvPr/>
        </p:nvSpPr>
        <p:spPr>
          <a:xfrm>
            <a:off x="5334000" y="48895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13">
            <a:extLst>
              <a:ext uri="{FF2B5EF4-FFF2-40B4-BE49-F238E27FC236}">
                <a16:creationId xmlns:a16="http://schemas.microsoft.com/office/drawing/2014/main" id="{5E242257-D3B8-5610-0AD9-5A2F698A02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000" y="5143500"/>
            <a:ext cx="406400" cy="406400"/>
          </a:xfrm>
          <a:prstGeom prst="rect">
            <a:avLst/>
          </a:prstGeom>
        </p:spPr>
      </p:pic>
      <p:sp>
        <p:nvSpPr>
          <p:cNvPr id="41" name="AutoShape 14">
            <a:extLst>
              <a:ext uri="{FF2B5EF4-FFF2-40B4-BE49-F238E27FC236}">
                <a16:creationId xmlns:a16="http://schemas.microsoft.com/office/drawing/2014/main" id="{4A710D7F-040B-0DC2-16FF-522403ED3880}"/>
              </a:ext>
            </a:extLst>
          </p:cNvPr>
          <p:cNvSpPr/>
          <p:nvPr/>
        </p:nvSpPr>
        <p:spPr>
          <a:xfrm>
            <a:off x="6159500" y="50165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03 查看并管理PST存档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在此页面可完整查看本机所有关联邮箱的PST格式数据文件，包括文件名称、具体存储路径及当前使用状态。</a:t>
            </a:r>
          </a:p>
        </p:txBody>
      </p:sp>
    </p:spTree>
    <p:extLst>
      <p:ext uri="{BB962C8B-B14F-4D97-AF65-F5344CB8AC3E}">
        <p14:creationId xmlns:p14="http://schemas.microsoft.com/office/powerpoint/2010/main" val="56058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CECCE-5D47-C908-A1A7-DD1AF19A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B997B47E-3891-EA1D-5315-D52043330B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FCC8F7AA-24A7-F4DF-278B-8CA76903C08C}"/>
              </a:ext>
            </a:extLst>
          </p:cNvPr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第四步：新建分流PST数据文件 (1/2)</a:t>
            </a:r>
            <a:endParaRPr lang="en-US" sz="110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D30DA57-8B29-5632-E935-637996F45A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" b="25"/>
          <a:stretch>
            <a:fillRect/>
          </a:stretch>
        </p:blipFill>
        <p:spPr>
          <a:xfrm>
            <a:off x="762000" y="1905000"/>
            <a:ext cx="4064000" cy="3378200"/>
          </a:xfrm>
          <a:prstGeom prst="rect">
            <a:avLst/>
          </a:prstGeom>
          <a:noFill/>
          <a:ln w="25400" cap="flat" cmpd="sng">
            <a:solidFill>
              <a:srgbClr val="5B9BD5">
                <a:alpha val="4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9" name="AutoShape 5">
            <a:extLst>
              <a:ext uri="{FF2B5EF4-FFF2-40B4-BE49-F238E27FC236}">
                <a16:creationId xmlns:a16="http://schemas.microsoft.com/office/drawing/2014/main" id="{F809A33A-886A-380A-AE0D-97AE7FD2CA52}"/>
              </a:ext>
            </a:extLst>
          </p:cNvPr>
          <p:cNvSpPr/>
          <p:nvPr/>
        </p:nvSpPr>
        <p:spPr>
          <a:xfrm>
            <a:off x="762000" y="5461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0707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图示：【数据文件】选项卡及【添加】按钮位置</a:t>
            </a:r>
            <a:endParaRPr lang="en-US" sz="1100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D3EC82C6-6412-E54A-4E24-DD88FB6F4339}"/>
              </a:ext>
            </a:extLst>
          </p:cNvPr>
          <p:cNvSpPr/>
          <p:nvPr/>
        </p:nvSpPr>
        <p:spPr>
          <a:xfrm>
            <a:off x="5334000" y="1955800"/>
            <a:ext cx="50800" cy="330200"/>
          </a:xfrm>
          <a:prstGeom prst="roundRect">
            <a:avLst>
              <a:gd name="adj" fmla="val 0"/>
            </a:avLst>
          </a:prstGeom>
          <a:solidFill>
            <a:srgbClr val="5B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CCA606CE-02CC-3DD3-C6B4-F2B8A6AC2E3D}"/>
              </a:ext>
            </a:extLst>
          </p:cNvPr>
          <p:cNvSpPr/>
          <p:nvPr/>
        </p:nvSpPr>
        <p:spPr>
          <a:xfrm>
            <a:off x="5524500" y="1905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关键操作步骤解析</a:t>
            </a:r>
            <a:endParaRPr lang="en-US" sz="1100"/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78CBAE76-9479-CD22-F508-0C302A7C7B41}"/>
              </a:ext>
            </a:extLst>
          </p:cNvPr>
          <p:cNvSpPr/>
          <p:nvPr/>
        </p:nvSpPr>
        <p:spPr>
          <a:xfrm>
            <a:off x="5334000" y="2667000"/>
            <a:ext cx="609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A0C0FC00-D33C-7ECC-AA6D-43D71E6A2F55}"/>
              </a:ext>
            </a:extLst>
          </p:cNvPr>
          <p:cNvSpPr/>
          <p:nvPr/>
        </p:nvSpPr>
        <p:spPr>
          <a:xfrm>
            <a:off x="5524500" y="2857500"/>
            <a:ext cx="571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切换至数据文件标签：</a:t>
            </a: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在【账户设置】对话框中，找到并点击【数据文件】选项卡，这里集中管理所有本地和联机的Outlook数据文件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启动新建流程：</a:t>
            </a: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点击窗口上方的【添加】按钮（如左图红框所示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系统将弹出“新建Outlook数据文件”对话框，进入下一步配置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B65C946B-ED89-CA0A-FCAB-C6D5ECF6D70E}"/>
              </a:ext>
            </a:extLst>
          </p:cNvPr>
          <p:cNvSpPr/>
          <p:nvPr/>
        </p:nvSpPr>
        <p:spPr>
          <a:xfrm>
            <a:off x="5334000" y="50165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5B9BD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11">
            <a:extLst>
              <a:ext uri="{FF2B5EF4-FFF2-40B4-BE49-F238E27FC236}">
                <a16:creationId xmlns:a16="http://schemas.microsoft.com/office/drawing/2014/main" id="{6E4898EF-18F6-991C-785A-69AF90121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5207000"/>
            <a:ext cx="304800" cy="304800"/>
          </a:xfrm>
          <a:prstGeom prst="rect">
            <a:avLst/>
          </a:prstGeom>
        </p:spPr>
      </p:pic>
      <p:sp>
        <p:nvSpPr>
          <p:cNvPr id="23" name="AutoShape 12">
            <a:extLst>
              <a:ext uri="{FF2B5EF4-FFF2-40B4-BE49-F238E27FC236}">
                <a16:creationId xmlns:a16="http://schemas.microsoft.com/office/drawing/2014/main" id="{2059CD60-73BD-6FA1-A6DA-E829D0882CD5}"/>
              </a:ext>
            </a:extLst>
          </p:cNvPr>
          <p:cNvSpPr/>
          <p:nvPr/>
        </p:nvSpPr>
        <p:spPr>
          <a:xfrm>
            <a:off x="5905500" y="51816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1F4E79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400" b="1" i="0" u="none" strike="noStrike" dirty="0" err="1">
                <a:solidFill>
                  <a:srgbClr val="1F4E7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配置建议：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建议将新建的PST文件保存在非系统分区（如D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:\mail），避免系统盘故障导致数据丢失。同时，为文件命名时请体现用途，例如“</a:t>
            </a:r>
            <a:r>
              <a:rPr lang="en-US" altLang="zh-CN" dirty="0"/>
              <a:t>opr-ov@2025-5-1.pst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58837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3AE0D-97E5-A399-2A95-3DF5B0CB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7BB048DF-2DB6-4F6E-1A70-E4BF37A970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307ACE94-3C72-2B22-74ED-E5A70773480C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第四步：新建分流PST数据文件 (2/2)</a:t>
            </a:r>
            <a:endParaRPr lang="en-US" sz="110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DE056F4-3BF9-7841-0F63-903543287E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" r="208"/>
          <a:stretch>
            <a:fillRect/>
          </a:stretch>
        </p:blipFill>
        <p:spPr>
          <a:xfrm>
            <a:off x="762000" y="1778000"/>
            <a:ext cx="4826000" cy="2730500"/>
          </a:xfrm>
          <a:prstGeom prst="rect">
            <a:avLst/>
          </a:prstGeom>
          <a:noFill/>
          <a:ln w="12700" cap="flat" cmpd="sng">
            <a:solidFill>
              <a:srgbClr val="DDDDDD">
                <a:alpha val="8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9" name="AutoShape 5">
            <a:extLst>
              <a:ext uri="{FF2B5EF4-FFF2-40B4-BE49-F238E27FC236}">
                <a16:creationId xmlns:a16="http://schemas.microsoft.com/office/drawing/2014/main" id="{5423D7F5-7E75-2987-102E-31D180401AE2}"/>
              </a:ext>
            </a:extLst>
          </p:cNvPr>
          <p:cNvSpPr/>
          <p:nvPr/>
        </p:nvSpPr>
        <p:spPr>
          <a:xfrm>
            <a:off x="762000" y="48260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5DA29357-AED0-E2C3-0092-21A9E953BE07}"/>
              </a:ext>
            </a:extLst>
          </p:cNvPr>
          <p:cNvSpPr/>
          <p:nvPr/>
        </p:nvSpPr>
        <p:spPr>
          <a:xfrm>
            <a:off x="914400" y="49784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300" b="1" i="0" u="none" strike="noStrike" dirty="0" err="1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避坑指南：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请勿将PST文件保存在系统盘（C盘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否则可能因系统重装或磁盘空间不足导致数据丢失。建议固定使用D盘专用文件夹，并保持命名格式一致，便于后续归档管理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77E6C41D-6A35-9651-7A58-1A5C23122D40}"/>
              </a:ext>
            </a:extLst>
          </p:cNvPr>
          <p:cNvSpPr/>
          <p:nvPr/>
        </p:nvSpPr>
        <p:spPr>
          <a:xfrm>
            <a:off x="5969000" y="17780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5B9BD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9DE5B79A-28DC-33B7-BCBA-7C07F97A4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1400" y="1968500"/>
            <a:ext cx="279400" cy="279400"/>
          </a:xfrm>
          <a:prstGeom prst="rect">
            <a:avLst/>
          </a:prstGeom>
        </p:spPr>
      </p:pic>
      <p:sp>
        <p:nvSpPr>
          <p:cNvPr id="17" name="AutoShape 9">
            <a:extLst>
              <a:ext uri="{FF2B5EF4-FFF2-40B4-BE49-F238E27FC236}">
                <a16:creationId xmlns:a16="http://schemas.microsoft.com/office/drawing/2014/main" id="{F6EB274B-3FFC-7971-DDC3-072303CDC2FE}"/>
              </a:ext>
            </a:extLst>
          </p:cNvPr>
          <p:cNvSpPr/>
          <p:nvPr/>
        </p:nvSpPr>
        <p:spPr>
          <a:xfrm>
            <a:off x="6477000" y="19431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01 定位存储路径</a:t>
            </a:r>
            <a:endParaRPr lang="en-US" sz="1100"/>
          </a:p>
        </p:txBody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710DAFE2-5D83-F3D5-5125-948367C03476}"/>
              </a:ext>
            </a:extLst>
          </p:cNvPr>
          <p:cNvSpPr/>
          <p:nvPr/>
        </p:nvSpPr>
        <p:spPr>
          <a:xfrm>
            <a:off x="6121400" y="24130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在弹出的对话框中，依次展开【此电脑】→【本地磁盘(D:)】，找到并进入预先创建的【mail】文件夹作为目标位置。</a:t>
            </a:r>
            <a:endParaRPr lang="en-US" sz="1100"/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1735FCB9-BDD6-3B8A-01AE-CA15DDC5C8F5}"/>
              </a:ext>
            </a:extLst>
          </p:cNvPr>
          <p:cNvSpPr/>
          <p:nvPr/>
        </p:nvSpPr>
        <p:spPr>
          <a:xfrm>
            <a:off x="8890000" y="17780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5B9BD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1C4B0BD1-DA17-D055-CBF8-213F30BE9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2400" y="1968500"/>
            <a:ext cx="279400" cy="279400"/>
          </a:xfrm>
          <a:prstGeom prst="rect">
            <a:avLst/>
          </a:prstGeom>
        </p:spPr>
      </p:pic>
      <p:sp>
        <p:nvSpPr>
          <p:cNvPr id="25" name="AutoShape 13">
            <a:extLst>
              <a:ext uri="{FF2B5EF4-FFF2-40B4-BE49-F238E27FC236}">
                <a16:creationId xmlns:a16="http://schemas.microsoft.com/office/drawing/2014/main" id="{30E34CF4-F506-A35A-D922-FEE916B5CCD9}"/>
              </a:ext>
            </a:extLst>
          </p:cNvPr>
          <p:cNvSpPr/>
          <p:nvPr/>
        </p:nvSpPr>
        <p:spPr>
          <a:xfrm>
            <a:off x="9398000" y="19431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02 规范命名文件</a:t>
            </a:r>
            <a:endParaRPr lang="en-US" sz="1100"/>
          </a:p>
        </p:txBody>
      </p:sp>
      <p:sp>
        <p:nvSpPr>
          <p:cNvPr id="27" name="AutoShape 14">
            <a:extLst>
              <a:ext uri="{FF2B5EF4-FFF2-40B4-BE49-F238E27FC236}">
                <a16:creationId xmlns:a16="http://schemas.microsoft.com/office/drawing/2014/main" id="{C9E3F4D0-769A-F820-F44F-FCE102B36EE0}"/>
              </a:ext>
            </a:extLst>
          </p:cNvPr>
          <p:cNvSpPr/>
          <p:nvPr/>
        </p:nvSpPr>
        <p:spPr>
          <a:xfrm>
            <a:off x="9042400" y="24130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输入框填写：「账号+当天日期」。示例：opr-ov@2026-6-22.pst。直接复制旧文件名修改日期可避免格式错误。</a:t>
            </a:r>
            <a:endParaRPr lang="en-US" sz="1100"/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8E9D2488-C24C-EDC2-C235-D5B5D2D79B3C}"/>
              </a:ext>
            </a:extLst>
          </p:cNvPr>
          <p:cNvSpPr/>
          <p:nvPr/>
        </p:nvSpPr>
        <p:spPr>
          <a:xfrm>
            <a:off x="5969000" y="40005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5B9BD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16">
            <a:extLst>
              <a:ext uri="{FF2B5EF4-FFF2-40B4-BE49-F238E27FC236}">
                <a16:creationId xmlns:a16="http://schemas.microsoft.com/office/drawing/2014/main" id="{7331060D-00BE-0F7C-69A8-DE206EA59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21400" y="4191000"/>
            <a:ext cx="279400" cy="279400"/>
          </a:xfrm>
          <a:prstGeom prst="rect">
            <a:avLst/>
          </a:prstGeom>
        </p:spPr>
      </p:pic>
      <p:sp>
        <p:nvSpPr>
          <p:cNvPr id="33" name="AutoShape 17">
            <a:extLst>
              <a:ext uri="{FF2B5EF4-FFF2-40B4-BE49-F238E27FC236}">
                <a16:creationId xmlns:a16="http://schemas.microsoft.com/office/drawing/2014/main" id="{D0B55AAA-4AE4-5991-0D05-A81B1C0A068B}"/>
              </a:ext>
            </a:extLst>
          </p:cNvPr>
          <p:cNvSpPr/>
          <p:nvPr/>
        </p:nvSpPr>
        <p:spPr>
          <a:xfrm>
            <a:off x="6477000" y="41656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核对保存类型</a:t>
            </a:r>
            <a:endParaRPr lang="en-US" sz="1100"/>
          </a:p>
        </p:txBody>
      </p:sp>
      <p:sp>
        <p:nvSpPr>
          <p:cNvPr id="35" name="AutoShape 18">
            <a:extLst>
              <a:ext uri="{FF2B5EF4-FFF2-40B4-BE49-F238E27FC236}">
                <a16:creationId xmlns:a16="http://schemas.microsoft.com/office/drawing/2014/main" id="{769D9D27-EDCA-715E-FC9A-1D62AA959423}"/>
              </a:ext>
            </a:extLst>
          </p:cNvPr>
          <p:cNvSpPr/>
          <p:nvPr/>
        </p:nvSpPr>
        <p:spPr>
          <a:xfrm>
            <a:off x="6121400" y="46355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确认【保存类型】下拉菜单显示为「Outlook 数据文件(*.pst)」，这是系统默认的正确格式，无需更改。</a:t>
            </a:r>
            <a:endParaRPr lang="en-US" sz="1100"/>
          </a:p>
        </p:txBody>
      </p:sp>
      <p:sp>
        <p:nvSpPr>
          <p:cNvPr id="37" name="AutoShape 19">
            <a:extLst>
              <a:ext uri="{FF2B5EF4-FFF2-40B4-BE49-F238E27FC236}">
                <a16:creationId xmlns:a16="http://schemas.microsoft.com/office/drawing/2014/main" id="{079257CC-F372-BE8F-EBB2-44DE4610569D}"/>
              </a:ext>
            </a:extLst>
          </p:cNvPr>
          <p:cNvSpPr/>
          <p:nvPr/>
        </p:nvSpPr>
        <p:spPr>
          <a:xfrm>
            <a:off x="8890000" y="40005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5B9BD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20">
            <a:extLst>
              <a:ext uri="{FF2B5EF4-FFF2-40B4-BE49-F238E27FC236}">
                <a16:creationId xmlns:a16="http://schemas.microsoft.com/office/drawing/2014/main" id="{6E494361-E0F6-9445-C59F-525AD6173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2400" y="4191000"/>
            <a:ext cx="279400" cy="279400"/>
          </a:xfrm>
          <a:prstGeom prst="rect">
            <a:avLst/>
          </a:prstGeom>
        </p:spPr>
      </p:pic>
      <p:sp>
        <p:nvSpPr>
          <p:cNvPr id="41" name="AutoShape 21">
            <a:extLst>
              <a:ext uri="{FF2B5EF4-FFF2-40B4-BE49-F238E27FC236}">
                <a16:creationId xmlns:a16="http://schemas.microsoft.com/office/drawing/2014/main" id="{ADE14459-0A3A-ECC7-C737-011807B471AB}"/>
              </a:ext>
            </a:extLst>
          </p:cNvPr>
          <p:cNvSpPr/>
          <p:nvPr/>
        </p:nvSpPr>
        <p:spPr>
          <a:xfrm>
            <a:off x="9398000" y="41656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04 完成文件创建</a:t>
            </a:r>
            <a:endParaRPr lang="en-US" sz="1100"/>
          </a:p>
        </p:txBody>
      </p:sp>
      <p:sp>
        <p:nvSpPr>
          <p:cNvPr id="43" name="AutoShape 22">
            <a:extLst>
              <a:ext uri="{FF2B5EF4-FFF2-40B4-BE49-F238E27FC236}">
                <a16:creationId xmlns:a16="http://schemas.microsoft.com/office/drawing/2014/main" id="{45336505-7F9C-1B8C-4373-24785890A8B2}"/>
              </a:ext>
            </a:extLst>
          </p:cNvPr>
          <p:cNvSpPr/>
          <p:nvPr/>
        </p:nvSpPr>
        <p:spPr>
          <a:xfrm>
            <a:off x="9042400" y="46355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再次检查路径和文件名无误后，点击【确定】按钮。系统将自动生成新的空白PST文件，用于后续存储邮件数据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8150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4DF48-716C-1303-C5BD-6A4584CE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B21A80BF-39D9-0B29-5B14-C49D621C04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6D25AEF6-DEBC-4F21-8CBE-28108FF4CC82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第五步：切换邮件配置栏目</a:t>
            </a:r>
            <a:endParaRPr lang="en-US" sz="110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63A75CB0-BE99-3D82-2AC9-5F472C25F677}"/>
              </a:ext>
            </a:extLst>
          </p:cNvPr>
          <p:cNvSpPr/>
          <p:nvPr/>
        </p:nvSpPr>
        <p:spPr>
          <a:xfrm>
            <a:off x="5588000" y="1778000"/>
            <a:ext cx="6096000" cy="1651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BBF1986-04E0-075E-677D-49992B8E46C2}"/>
              </a:ext>
            </a:extLst>
          </p:cNvPr>
          <p:cNvSpPr/>
          <p:nvPr/>
        </p:nvSpPr>
        <p:spPr>
          <a:xfrm>
            <a:off x="5588000" y="1778000"/>
            <a:ext cx="76200" cy="1651000"/>
          </a:xfrm>
          <a:prstGeom prst="roundRect">
            <a:avLst>
              <a:gd name="adj" fmla="val 0"/>
            </a:avLst>
          </a:prstGeom>
          <a:solidFill>
            <a:srgbClr val="5B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420D7A1E-C113-3A25-D854-C73713479521}"/>
              </a:ext>
            </a:extLst>
          </p:cNvPr>
          <p:cNvSpPr/>
          <p:nvPr/>
        </p:nvSpPr>
        <p:spPr>
          <a:xfrm>
            <a:off x="5842000" y="1905000"/>
            <a:ext cx="571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回到账户设置主窗口</a:t>
            </a:r>
            <a:endParaRPr lang="en-US" sz="1100" dirty="0"/>
          </a:p>
          <a:p>
            <a:pPr marL="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完成新PST数据文件的创建与保存后，请关闭弹出的向导窗口，返回到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Outlook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的【账户设置】主界面。这是进行后续邮件存储路径配置的必要前提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8E44A688-13FA-DCE6-91AD-21CF6C0D3A17}"/>
              </a:ext>
            </a:extLst>
          </p:cNvPr>
          <p:cNvSpPr/>
          <p:nvPr/>
        </p:nvSpPr>
        <p:spPr>
          <a:xfrm>
            <a:off x="5588000" y="3683000"/>
            <a:ext cx="6096000" cy="1651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1E363E20-23D2-362B-3B07-99ABBD1447B7}"/>
              </a:ext>
            </a:extLst>
          </p:cNvPr>
          <p:cNvSpPr/>
          <p:nvPr/>
        </p:nvSpPr>
        <p:spPr>
          <a:xfrm>
            <a:off x="5588000" y="3683000"/>
            <a:ext cx="76200" cy="1651000"/>
          </a:xfrm>
          <a:prstGeom prst="roundRect">
            <a:avLst>
              <a:gd name="adj" fmla="val 0"/>
            </a:avLst>
          </a:prstGeom>
          <a:solidFill>
            <a:srgbClr val="5B9B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1CBF373D-F917-A35E-F251-B753ED612003}"/>
              </a:ext>
            </a:extLst>
          </p:cNvPr>
          <p:cNvSpPr/>
          <p:nvPr/>
        </p:nvSpPr>
        <p:spPr>
          <a:xfrm>
            <a:off x="5842000" y="3810000"/>
            <a:ext cx="571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切换至“电子邮件”标签页</a:t>
            </a:r>
            <a:endParaRPr lang="en-US" sz="1100" dirty="0"/>
          </a:p>
          <a:p>
            <a:pPr marL="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在窗口顶部的选项卡栏中，找到并点击【电子邮件】标签（通常位于【数据文件】标签右侧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此标签页包含了所有邮箱账户的核心配置，是修改邮件投递位置的关键入口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85B1EBF6-DECD-582A-7D81-E4F988E9916B}"/>
              </a:ext>
            </a:extLst>
          </p:cNvPr>
          <p:cNvSpPr/>
          <p:nvPr/>
        </p:nvSpPr>
        <p:spPr>
          <a:xfrm>
            <a:off x="762000" y="55880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5B9BD5">
              <a:alpha val="12000"/>
            </a:srgbClr>
          </a:solidFill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67F7E626-C726-6351-67B8-A750ED683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5816600"/>
            <a:ext cx="304800" cy="304800"/>
          </a:xfrm>
          <a:prstGeom prst="rect">
            <a:avLst/>
          </a:prstGeom>
        </p:spPr>
      </p:pic>
      <p:sp>
        <p:nvSpPr>
          <p:cNvPr id="25" name="AutoShape 13">
            <a:extLst>
              <a:ext uri="{FF2B5EF4-FFF2-40B4-BE49-F238E27FC236}">
                <a16:creationId xmlns:a16="http://schemas.microsoft.com/office/drawing/2014/main" id="{C54B66F4-46EA-87B2-D794-472AE0340016}"/>
              </a:ext>
            </a:extLst>
          </p:cNvPr>
          <p:cNvSpPr/>
          <p:nvPr/>
        </p:nvSpPr>
        <p:spPr>
          <a:xfrm>
            <a:off x="1422400" y="5715000"/>
            <a:ext cx="990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核心说明：</a:t>
            </a: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此步骤用于进入邮件账户的配置核心区，只有在此处，才能将新邮件的默认投递路径修改为您刚刚创建的新PST数据文件。</a:t>
            </a:r>
            <a:endParaRPr lang="en-US" sz="110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1B8AD18-92D8-A395-FD9D-5EC3868204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6" b="10306"/>
          <a:stretch>
            <a:fillRect/>
          </a:stretch>
        </p:blipFill>
        <p:spPr>
          <a:xfrm>
            <a:off x="762000" y="1778000"/>
            <a:ext cx="4826000" cy="363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00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649C4-3077-B530-F706-93E0E2CE3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4675F6AA-C65D-DA6F-FD13-D22B9F7BF5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6AF9FC7-94B6-52B6-AB75-2138B7F3D6F2}"/>
              </a:ext>
            </a:extLst>
          </p:cNvPr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第六步：选中满的旧邮箱并更改收件箱路径</a:t>
            </a:r>
            <a:endParaRPr lang="en-US" sz="1100"/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60C12BC0-8574-C00F-82DD-796CDB6C604E}"/>
              </a:ext>
            </a:extLst>
          </p:cNvPr>
          <p:cNvSpPr/>
          <p:nvPr/>
        </p:nvSpPr>
        <p:spPr>
          <a:xfrm>
            <a:off x="6223000" y="2159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D8EFB82B-9FC0-ED63-7031-1D81CACF2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476500"/>
            <a:ext cx="457200" cy="457200"/>
          </a:xfrm>
          <a:prstGeom prst="rect">
            <a:avLst/>
          </a:prstGeom>
        </p:spPr>
      </p:pic>
      <p:sp>
        <p:nvSpPr>
          <p:cNvPr id="19" name="AutoShape 10">
            <a:extLst>
              <a:ext uri="{FF2B5EF4-FFF2-40B4-BE49-F238E27FC236}">
                <a16:creationId xmlns:a16="http://schemas.microsoft.com/office/drawing/2014/main" id="{368CFCAF-BB40-D42B-2F3D-D0AF02F763B6}"/>
              </a:ext>
            </a:extLst>
          </p:cNvPr>
          <p:cNvSpPr/>
          <p:nvPr/>
        </p:nvSpPr>
        <p:spPr>
          <a:xfrm>
            <a:off x="7112000" y="24892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启动路径变更配置</a:t>
            </a:r>
            <a:endParaRPr lang="en-US" sz="1100" dirty="0"/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D589B892-2ECD-E7BA-E929-02FE0C95C905}"/>
              </a:ext>
            </a:extLst>
          </p:cNvPr>
          <p:cNvSpPr/>
          <p:nvPr/>
        </p:nvSpPr>
        <p:spPr>
          <a:xfrm>
            <a:off x="6540500" y="3175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确认选中目标账户后，点击界面</a:t>
            </a:r>
            <a:r>
              <a:rPr lang="zh-CN" altLang="en-US" sz="15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下</a:t>
            </a:r>
            <a:r>
              <a:rPr lang="en-US" sz="15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方功能区的【更改</a:t>
            </a:r>
            <a:r>
              <a:rPr lang="zh-CN" altLang="en-US" sz="15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文件夹</a:t>
            </a:r>
            <a:r>
              <a:rPr lang="en-US" sz="15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】按钮。该操作将触发系统跳转至邮箱数据文件的高级配置页面，让您能够重新指定新的收件箱存储路径或调整数据文件位置。</a:t>
            </a:r>
            <a:endParaRPr lang="en-US" sz="1100" dirty="0"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4D8568BC-6246-7815-EEBF-F276D28701CA}"/>
              </a:ext>
            </a:extLst>
          </p:cNvPr>
          <p:cNvSpPr/>
          <p:nvPr/>
        </p:nvSpPr>
        <p:spPr>
          <a:xfrm>
            <a:off x="762000" y="520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C000">
              <a:alpha val="8000"/>
            </a:srgbClr>
          </a:solidFill>
          <a:ln w="12700" cap="flat" cmpd="sng">
            <a:solidFill>
              <a:srgbClr val="FFC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13">
            <a:extLst>
              <a:ext uri="{FF2B5EF4-FFF2-40B4-BE49-F238E27FC236}">
                <a16:creationId xmlns:a16="http://schemas.microsoft.com/office/drawing/2014/main" id="{6652EF61-D8C7-850C-F634-F29E78AD15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461000"/>
            <a:ext cx="304800" cy="304800"/>
          </a:xfrm>
          <a:prstGeom prst="rect">
            <a:avLst/>
          </a:prstGeom>
        </p:spPr>
      </p:pic>
      <p:sp>
        <p:nvSpPr>
          <p:cNvPr id="27" name="AutoShape 14">
            <a:extLst>
              <a:ext uri="{FF2B5EF4-FFF2-40B4-BE49-F238E27FC236}">
                <a16:creationId xmlns:a16="http://schemas.microsoft.com/office/drawing/2014/main" id="{67BDA0A1-A53D-A5C4-CE73-FA2C288FCBD7}"/>
              </a:ext>
            </a:extLst>
          </p:cNvPr>
          <p:cNvSpPr/>
          <p:nvPr/>
        </p:nvSpPr>
        <p:spPr>
          <a:xfrm>
            <a:off x="1460500" y="53975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温馨提示：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在进行路径更改前，建议关闭其他邮件客户端并备份重要数据。若您不确定当前PST文件的具体位置，可在选中账户后查看其属性信息，确认无误后再进行下一步操作。</a:t>
            </a:r>
            <a:endParaRPr lang="en-US" sz="11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F4E0C069-696D-9046-FDD9-126E0E6FD8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6" b="10306"/>
          <a:stretch>
            <a:fillRect/>
          </a:stretch>
        </p:blipFill>
        <p:spPr>
          <a:xfrm>
            <a:off x="762000" y="1778000"/>
            <a:ext cx="4826000" cy="363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91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D04F0-BCC2-D8B0-9DD4-F16B3BC4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FC8520-2416-87B7-64E3-4C71267AF7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7786A34-AD02-4B6F-D315-03D5379CFA1D}"/>
              </a:ext>
            </a:extLst>
          </p:cNvPr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第七步：修改收件箱存储路径+手动新建收件箱</a:t>
            </a:r>
            <a:endParaRPr lang="en-US" sz="110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12F9250-93BB-3C51-5D3B-9E8585A93715}"/>
              </a:ext>
            </a:extLst>
          </p:cNvPr>
          <p:cNvSpPr/>
          <p:nvPr/>
        </p:nvSpPr>
        <p:spPr>
          <a:xfrm>
            <a:off x="762000" y="1778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06D06B15-EA32-B7C0-EC25-53BE9CFD5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10" name="AutoShape 6">
            <a:extLst>
              <a:ext uri="{FF2B5EF4-FFF2-40B4-BE49-F238E27FC236}">
                <a16:creationId xmlns:a16="http://schemas.microsoft.com/office/drawing/2014/main" id="{0B83BE20-FC35-3EB0-BF67-5F6BFCAD1690}"/>
              </a:ext>
            </a:extLst>
          </p:cNvPr>
          <p:cNvSpPr/>
          <p:nvPr/>
        </p:nvSpPr>
        <p:spPr>
          <a:xfrm>
            <a:off x="1587500" y="2070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01 替换存储路径</a:t>
            </a:r>
            <a:endParaRPr lang="en-US" sz="1100"/>
          </a:p>
        </p:txBody>
      </p:sp>
      <p:cxnSp>
        <p:nvCxnSpPr>
          <p:cNvPr id="12" name="Connector 7">
            <a:extLst>
              <a:ext uri="{FF2B5EF4-FFF2-40B4-BE49-F238E27FC236}">
                <a16:creationId xmlns:a16="http://schemas.microsoft.com/office/drawing/2014/main" id="{E0FBEEEF-5B52-0A0B-3379-699A8C8B95B7}"/>
              </a:ext>
            </a:extLst>
          </p:cNvPr>
          <p:cNvCxnSpPr/>
          <p:nvPr/>
        </p:nvCxnSpPr>
        <p:spPr>
          <a:xfrm rot="21584789">
            <a:off x="10160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8">
            <a:extLst>
              <a:ext uri="{FF2B5EF4-FFF2-40B4-BE49-F238E27FC236}">
                <a16:creationId xmlns:a16="http://schemas.microsoft.com/office/drawing/2014/main" id="{1DCDFAA2-D8CB-3A8E-AF38-1EB7FE19F6E9}"/>
              </a:ext>
            </a:extLst>
          </p:cNvPr>
          <p:cNvSpPr/>
          <p:nvPr/>
        </p:nvSpPr>
        <p:spPr>
          <a:xfrm>
            <a:off x="1016000" y="28575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在邮箱配置的“数据文件”页面，将原有的旧PST文件路径，替换为您刚刚在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D盘\mail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文件夹中创建的全新空白PST文件，完成物理存储位置的切换。</a:t>
            </a:r>
            <a:endParaRPr lang="en-US" sz="1100"/>
          </a:p>
        </p:txBody>
      </p:sp>
      <p:sp>
        <p:nvSpPr>
          <p:cNvPr id="16" name="AutoShape 9">
            <a:extLst>
              <a:ext uri="{FF2B5EF4-FFF2-40B4-BE49-F238E27FC236}">
                <a16:creationId xmlns:a16="http://schemas.microsoft.com/office/drawing/2014/main" id="{58EC6023-E75B-A7EA-7DA1-8539B4717F3F}"/>
              </a:ext>
            </a:extLst>
          </p:cNvPr>
          <p:cNvSpPr/>
          <p:nvPr/>
        </p:nvSpPr>
        <p:spPr>
          <a:xfrm>
            <a:off x="4406900" y="1778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BE54494B-E8F0-378C-ABA7-7B99F7007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032000"/>
            <a:ext cx="457200" cy="457200"/>
          </a:xfrm>
          <a:prstGeom prst="rect">
            <a:avLst/>
          </a:prstGeom>
        </p:spPr>
      </p:pic>
      <p:sp>
        <p:nvSpPr>
          <p:cNvPr id="20" name="AutoShape 11">
            <a:extLst>
              <a:ext uri="{FF2B5EF4-FFF2-40B4-BE49-F238E27FC236}">
                <a16:creationId xmlns:a16="http://schemas.microsoft.com/office/drawing/2014/main" id="{848EFA58-7A4D-F88D-9710-F0DC4DB66119}"/>
              </a:ext>
            </a:extLst>
          </p:cNvPr>
          <p:cNvSpPr/>
          <p:nvPr/>
        </p:nvSpPr>
        <p:spPr>
          <a:xfrm>
            <a:off x="5232400" y="2070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关键注意事项</a:t>
            </a:r>
            <a:endParaRPr lang="en-US" sz="1100"/>
          </a:p>
        </p:txBody>
      </p:sp>
      <p:cxnSp>
        <p:nvCxnSpPr>
          <p:cNvPr id="22" name="Connector 12">
            <a:extLst>
              <a:ext uri="{FF2B5EF4-FFF2-40B4-BE49-F238E27FC236}">
                <a16:creationId xmlns:a16="http://schemas.microsoft.com/office/drawing/2014/main" id="{6D4D550D-10FB-A718-9924-EAAF194B7B17}"/>
              </a:ext>
            </a:extLst>
          </p:cNvPr>
          <p:cNvCxnSpPr/>
          <p:nvPr/>
        </p:nvCxnSpPr>
        <p:spPr>
          <a:xfrm rot="21584789">
            <a:off x="46609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13">
            <a:extLst>
              <a:ext uri="{FF2B5EF4-FFF2-40B4-BE49-F238E27FC236}">
                <a16:creationId xmlns:a16="http://schemas.microsoft.com/office/drawing/2014/main" id="{A5399508-0A7F-949B-4C99-CB4BB2EAE4E5}"/>
              </a:ext>
            </a:extLst>
          </p:cNvPr>
          <p:cNvSpPr/>
          <p:nvPr/>
        </p:nvSpPr>
        <p:spPr>
          <a:xfrm>
            <a:off x="4660900" y="28575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新建的PST文件是一个</a:t>
            </a:r>
            <a:r>
              <a:rPr lang="en-US" sz="1400" b="1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空白的容器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，系统不会自动生成任何文件夹结构（包括“收件箱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”）。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若忽略此步，邮件将无法正常接收和分类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6" name="AutoShape 14">
            <a:extLst>
              <a:ext uri="{FF2B5EF4-FFF2-40B4-BE49-F238E27FC236}">
                <a16:creationId xmlns:a16="http://schemas.microsoft.com/office/drawing/2014/main" id="{75F3A04A-A12F-73E4-AF9C-0B0026DF4442}"/>
              </a:ext>
            </a:extLst>
          </p:cNvPr>
          <p:cNvSpPr/>
          <p:nvPr/>
        </p:nvSpPr>
        <p:spPr>
          <a:xfrm>
            <a:off x="8051800" y="1778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15">
            <a:extLst>
              <a:ext uri="{FF2B5EF4-FFF2-40B4-BE49-F238E27FC236}">
                <a16:creationId xmlns:a16="http://schemas.microsoft.com/office/drawing/2014/main" id="{69405D8C-7D82-D936-4AF2-EE8F90757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032000"/>
            <a:ext cx="457200" cy="457200"/>
          </a:xfrm>
          <a:prstGeom prst="rect">
            <a:avLst/>
          </a:prstGeom>
        </p:spPr>
      </p:pic>
      <p:sp>
        <p:nvSpPr>
          <p:cNvPr id="29" name="AutoShape 16">
            <a:extLst>
              <a:ext uri="{FF2B5EF4-FFF2-40B4-BE49-F238E27FC236}">
                <a16:creationId xmlns:a16="http://schemas.microsoft.com/office/drawing/2014/main" id="{48E95E1C-4DF3-7298-B18F-EE62E1093CD5}"/>
              </a:ext>
            </a:extLst>
          </p:cNvPr>
          <p:cNvSpPr/>
          <p:nvPr/>
        </p:nvSpPr>
        <p:spPr>
          <a:xfrm>
            <a:off x="8877300" y="2070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03 手动新建目录</a:t>
            </a:r>
            <a:endParaRPr lang="en-US" sz="1100"/>
          </a:p>
        </p:txBody>
      </p:sp>
      <p:cxnSp>
        <p:nvCxnSpPr>
          <p:cNvPr id="30" name="Connector 17">
            <a:extLst>
              <a:ext uri="{FF2B5EF4-FFF2-40B4-BE49-F238E27FC236}">
                <a16:creationId xmlns:a16="http://schemas.microsoft.com/office/drawing/2014/main" id="{23D37F91-34D5-0EB0-A046-842516B32835}"/>
              </a:ext>
            </a:extLst>
          </p:cNvPr>
          <p:cNvCxnSpPr/>
          <p:nvPr/>
        </p:nvCxnSpPr>
        <p:spPr>
          <a:xfrm rot="21584789">
            <a:off x="83058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B9BD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18">
            <a:extLst>
              <a:ext uri="{FF2B5EF4-FFF2-40B4-BE49-F238E27FC236}">
                <a16:creationId xmlns:a16="http://schemas.microsoft.com/office/drawing/2014/main" id="{0E5C1E45-D208-94CD-4433-8C21E4598EA3}"/>
              </a:ext>
            </a:extLst>
          </p:cNvPr>
          <p:cNvSpPr/>
          <p:nvPr/>
        </p:nvSpPr>
        <p:spPr>
          <a:xfrm>
            <a:off x="8305800" y="28575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在左侧导航栏找到新PST文件根目录，右键点击并选择“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新建文件夹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将其命名为</a:t>
            </a:r>
            <a:r>
              <a:rPr lang="en-US" sz="1400" b="1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【收件箱</a:t>
            </a:r>
            <a:r>
              <a:rPr lang="en-US" sz="14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】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以匹配系统的默认邮件接收规则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4EFA1790-BC79-194C-1C53-C0D0E0E38F35}"/>
              </a:ext>
            </a:extLst>
          </p:cNvPr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0">
            <a:extLst>
              <a:ext uri="{FF2B5EF4-FFF2-40B4-BE49-F238E27FC236}">
                <a16:creationId xmlns:a16="http://schemas.microsoft.com/office/drawing/2014/main" id="{08A6AFA3-5D48-70F2-F4D8-48EF76CCFAAF}"/>
              </a:ext>
            </a:extLst>
          </p:cNvPr>
          <p:cNvSpPr/>
          <p:nvPr/>
        </p:nvSpPr>
        <p:spPr>
          <a:xfrm>
            <a:off x="1016000" y="53594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操作验证：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完成配置后，请发送一封测试邮件至该邮箱，检查新邮件是否能正确投递到D盘新建的“收件箱”文件夹中，确保数据存储路径已完全生效。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75636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58E00-E788-7BEE-C6CA-5A126538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527D5A0F-F653-0851-D5E5-E80ABC2525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E9216EEE-3A7F-81FE-A2E6-1A7CD60E56D6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第八步：全部确认，重启Outlook生效</a:t>
            </a:r>
            <a:endParaRPr lang="en-US" sz="110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0E5B9D06-C7C1-F06D-0F4A-98CCBA65FB08}"/>
              </a:ext>
            </a:extLst>
          </p:cNvPr>
          <p:cNvSpPr/>
          <p:nvPr/>
        </p:nvSpPr>
        <p:spPr>
          <a:xfrm>
            <a:off x="762000" y="1841500"/>
            <a:ext cx="2133600" cy="3175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432C099F-A520-76CD-496C-AC9C276A58D5}"/>
              </a:ext>
            </a:extLst>
          </p:cNvPr>
          <p:cNvSpPr/>
          <p:nvPr/>
        </p:nvSpPr>
        <p:spPr>
          <a:xfrm>
            <a:off x="889000" y="2095500"/>
            <a:ext cx="187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0407BCA3-BF75-E016-E614-38D4253007EC}"/>
              </a:ext>
            </a:extLst>
          </p:cNvPr>
          <p:cNvSpPr/>
          <p:nvPr/>
        </p:nvSpPr>
        <p:spPr>
          <a:xfrm>
            <a:off x="889000" y="2857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确认并保存</a:t>
            </a:r>
            <a:endParaRPr lang="en-US" sz="1100"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A908E95B-7F42-F5B9-876A-5D53D1BE5565}"/>
              </a:ext>
            </a:extLst>
          </p:cNvPr>
          <p:cNvSpPr/>
          <p:nvPr/>
        </p:nvSpPr>
        <p:spPr>
          <a:xfrm>
            <a:off x="889000" y="3492500"/>
            <a:ext cx="1879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依次点击所有设置弹窗的【确定】与【保存】按钮，确保所有配置修改被系统接受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95083ADB-BC4F-1567-68B5-EEC73D3F6995}"/>
              </a:ext>
            </a:extLst>
          </p:cNvPr>
          <p:cNvSpPr/>
          <p:nvPr/>
        </p:nvSpPr>
        <p:spPr>
          <a:xfrm>
            <a:off x="2997200" y="1841500"/>
            <a:ext cx="2133600" cy="3175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1D858C71-235F-042C-6D61-FACF73ECDE41}"/>
              </a:ext>
            </a:extLst>
          </p:cNvPr>
          <p:cNvSpPr/>
          <p:nvPr/>
        </p:nvSpPr>
        <p:spPr>
          <a:xfrm>
            <a:off x="3124200" y="2095500"/>
            <a:ext cx="187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E7221F66-C0AD-4DE2-0AD0-309A5DF9EA9A}"/>
              </a:ext>
            </a:extLst>
          </p:cNvPr>
          <p:cNvSpPr/>
          <p:nvPr/>
        </p:nvSpPr>
        <p:spPr>
          <a:xfrm>
            <a:off x="3124200" y="2857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关闭 Outlook</a:t>
            </a:r>
            <a:endParaRPr lang="en-US" sz="1100"/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66936304-CD29-E1C1-D640-5348E865DE0D}"/>
              </a:ext>
            </a:extLst>
          </p:cNvPr>
          <p:cNvSpPr/>
          <p:nvPr/>
        </p:nvSpPr>
        <p:spPr>
          <a:xfrm>
            <a:off x="3124200" y="3492500"/>
            <a:ext cx="1879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完全退出软件，包括任务栏右下角的后台进程，确保旧配置完全释放。</a:t>
            </a:r>
            <a:endParaRPr lang="en-US" sz="1100"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60EEA8CA-6550-E1C1-DEC7-78461FCAE22B}"/>
              </a:ext>
            </a:extLst>
          </p:cNvPr>
          <p:cNvSpPr/>
          <p:nvPr/>
        </p:nvSpPr>
        <p:spPr>
          <a:xfrm>
            <a:off x="5232400" y="1841500"/>
            <a:ext cx="2133600" cy="3175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05DA67E9-97FD-95CC-1047-3F51DC1D74DC}"/>
              </a:ext>
            </a:extLst>
          </p:cNvPr>
          <p:cNvSpPr/>
          <p:nvPr/>
        </p:nvSpPr>
        <p:spPr>
          <a:xfrm>
            <a:off x="5359400" y="2095500"/>
            <a:ext cx="187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7" name="AutoShape 14">
            <a:extLst>
              <a:ext uri="{FF2B5EF4-FFF2-40B4-BE49-F238E27FC236}">
                <a16:creationId xmlns:a16="http://schemas.microsoft.com/office/drawing/2014/main" id="{AA0680A0-89DD-ABC3-799C-C38C1F32CCD5}"/>
              </a:ext>
            </a:extLst>
          </p:cNvPr>
          <p:cNvSpPr/>
          <p:nvPr/>
        </p:nvSpPr>
        <p:spPr>
          <a:xfrm>
            <a:off x="5359400" y="2857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重新启动</a:t>
            </a:r>
            <a:endParaRPr lang="en-US" sz="1100"/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E376350A-CF81-8E7D-F18E-555C8AF6E38A}"/>
              </a:ext>
            </a:extLst>
          </p:cNvPr>
          <p:cNvSpPr/>
          <p:nvPr/>
        </p:nvSpPr>
        <p:spPr>
          <a:xfrm>
            <a:off x="5359400" y="3492500"/>
            <a:ext cx="1879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重新打开 Outlook 应用程序，此时系统将加载更新后的邮箱配置参数。</a:t>
            </a:r>
            <a:endParaRPr lang="en-US" sz="1100"/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D9509907-5793-B166-0DD2-1B11CC99FC88}"/>
              </a:ext>
            </a:extLst>
          </p:cNvPr>
          <p:cNvSpPr/>
          <p:nvPr/>
        </p:nvSpPr>
        <p:spPr>
          <a:xfrm>
            <a:off x="7467600" y="1841500"/>
            <a:ext cx="2133600" cy="3175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17">
            <a:extLst>
              <a:ext uri="{FF2B5EF4-FFF2-40B4-BE49-F238E27FC236}">
                <a16:creationId xmlns:a16="http://schemas.microsoft.com/office/drawing/2014/main" id="{0D814FDF-B039-3F6A-A987-5F12F405E762}"/>
              </a:ext>
            </a:extLst>
          </p:cNvPr>
          <p:cNvSpPr/>
          <p:nvPr/>
        </p:nvSpPr>
        <p:spPr>
          <a:xfrm>
            <a:off x="7594600" y="2095500"/>
            <a:ext cx="187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18">
            <a:extLst>
              <a:ext uri="{FF2B5EF4-FFF2-40B4-BE49-F238E27FC236}">
                <a16:creationId xmlns:a16="http://schemas.microsoft.com/office/drawing/2014/main" id="{C5C076E7-E8C1-8834-A81C-4BC93458F9EE}"/>
              </a:ext>
            </a:extLst>
          </p:cNvPr>
          <p:cNvSpPr/>
          <p:nvPr/>
        </p:nvSpPr>
        <p:spPr>
          <a:xfrm>
            <a:off x="7594600" y="2857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手动同步</a:t>
            </a:r>
            <a:endParaRPr lang="en-US" sz="1100"/>
          </a:p>
        </p:txBody>
      </p:sp>
      <p:sp>
        <p:nvSpPr>
          <p:cNvPr id="37" name="AutoShape 19">
            <a:extLst>
              <a:ext uri="{FF2B5EF4-FFF2-40B4-BE49-F238E27FC236}">
                <a16:creationId xmlns:a16="http://schemas.microsoft.com/office/drawing/2014/main" id="{DA14A83D-DD9F-1436-B1F3-A598B7A2D1EE}"/>
              </a:ext>
            </a:extLst>
          </p:cNvPr>
          <p:cNvSpPr/>
          <p:nvPr/>
        </p:nvSpPr>
        <p:spPr>
          <a:xfrm>
            <a:off x="7594600" y="3492500"/>
            <a:ext cx="1879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点击【发送/接收】选项卡，选择【全部发送】，强制触发一次全量同步。</a:t>
            </a:r>
            <a:endParaRPr lang="en-US" sz="1100"/>
          </a:p>
        </p:txBody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2C00C357-6F58-3163-C759-DA8101F397B6}"/>
              </a:ext>
            </a:extLst>
          </p:cNvPr>
          <p:cNvSpPr/>
          <p:nvPr/>
        </p:nvSpPr>
        <p:spPr>
          <a:xfrm>
            <a:off x="9702800" y="1841500"/>
            <a:ext cx="2133600" cy="3175000"/>
          </a:xfrm>
          <a:prstGeom prst="roundRect">
            <a:avLst>
              <a:gd name="adj" fmla="val 0"/>
            </a:avLst>
          </a:prstGeom>
          <a:solidFill>
            <a:srgbClr val="5B9BD5">
              <a:alpha val="8000"/>
            </a:srgbClr>
          </a:solidFill>
          <a:ln w="12700" cap="flat" cmpd="sng">
            <a:solidFill>
              <a:srgbClr val="5B9BD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21">
            <a:extLst>
              <a:ext uri="{FF2B5EF4-FFF2-40B4-BE49-F238E27FC236}">
                <a16:creationId xmlns:a16="http://schemas.microsoft.com/office/drawing/2014/main" id="{DDCE013C-99CE-CB06-D93E-909DEDDD4A41}"/>
              </a:ext>
            </a:extLst>
          </p:cNvPr>
          <p:cNvSpPr/>
          <p:nvPr/>
        </p:nvSpPr>
        <p:spPr>
          <a:xfrm>
            <a:off x="9829800" y="2095500"/>
            <a:ext cx="187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B9BD5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43" name="AutoShape 22">
            <a:extLst>
              <a:ext uri="{FF2B5EF4-FFF2-40B4-BE49-F238E27FC236}">
                <a16:creationId xmlns:a16="http://schemas.microsoft.com/office/drawing/2014/main" id="{E2F385FD-116C-7F3A-92A6-F2F576C73511}"/>
              </a:ext>
            </a:extLst>
          </p:cNvPr>
          <p:cNvSpPr/>
          <p:nvPr/>
        </p:nvSpPr>
        <p:spPr>
          <a:xfrm>
            <a:off x="9829800" y="2857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验证生效</a:t>
            </a:r>
            <a:endParaRPr lang="en-US" sz="1100"/>
          </a:p>
        </p:txBody>
      </p:sp>
      <p:sp>
        <p:nvSpPr>
          <p:cNvPr id="45" name="AutoShape 23">
            <a:extLst>
              <a:ext uri="{FF2B5EF4-FFF2-40B4-BE49-F238E27FC236}">
                <a16:creationId xmlns:a16="http://schemas.microsoft.com/office/drawing/2014/main" id="{0CA62BAE-9CB4-4791-BFB7-E28BC67522A3}"/>
              </a:ext>
            </a:extLst>
          </p:cNvPr>
          <p:cNvSpPr/>
          <p:nvPr/>
        </p:nvSpPr>
        <p:spPr>
          <a:xfrm>
            <a:off x="9829800" y="3492500"/>
            <a:ext cx="18796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操作完成！现在您的邮箱应已恢复正常，新邮件将自动投递至新位置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7" name="AutoShape 24">
            <a:extLst>
              <a:ext uri="{FF2B5EF4-FFF2-40B4-BE49-F238E27FC236}">
                <a16:creationId xmlns:a16="http://schemas.microsoft.com/office/drawing/2014/main" id="{1008E245-CEFD-9F46-EC51-E8AC215D0260}"/>
              </a:ext>
            </a:extLst>
          </p:cNvPr>
          <p:cNvSpPr/>
          <p:nvPr/>
        </p:nvSpPr>
        <p:spPr>
          <a:xfrm>
            <a:off x="762000" y="5397500"/>
            <a:ext cx="11074400" cy="889000"/>
          </a:xfrm>
          <a:prstGeom prst="roundRect">
            <a:avLst>
              <a:gd name="adj" fmla="val 0"/>
            </a:avLst>
          </a:prstGeom>
          <a:solidFill>
            <a:srgbClr val="5B9BD5">
              <a:alpha val="12000"/>
            </a:srgbClr>
          </a:solidFill>
          <a:ln cap="flat" cmpd="sng">
            <a:solidFill>
              <a:srgbClr val="3D80BC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9" name="Picture 25">
            <a:extLst>
              <a:ext uri="{FF2B5EF4-FFF2-40B4-BE49-F238E27FC236}">
                <a16:creationId xmlns:a16="http://schemas.microsoft.com/office/drawing/2014/main" id="{185552FC-81E5-1F7C-8547-0789596C5B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702300"/>
            <a:ext cx="279400" cy="279400"/>
          </a:xfrm>
          <a:prstGeom prst="rect">
            <a:avLst/>
          </a:prstGeom>
        </p:spPr>
      </p:pic>
      <p:sp>
        <p:nvSpPr>
          <p:cNvPr id="51" name="AutoShape 26">
            <a:extLst>
              <a:ext uri="{FF2B5EF4-FFF2-40B4-BE49-F238E27FC236}">
                <a16:creationId xmlns:a16="http://schemas.microsoft.com/office/drawing/2014/main" id="{E878AEFC-8FE9-1073-455F-47D363399C2C}"/>
              </a:ext>
            </a:extLst>
          </p:cNvPr>
          <p:cNvSpPr/>
          <p:nvPr/>
        </p:nvSpPr>
        <p:spPr>
          <a:xfrm>
            <a:off x="1460500" y="5562600"/>
            <a:ext cx="1035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注意事项：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若重启后仍有异常，请检查网络连接或重新核对配置步骤。建议发送一封测试邮件以验证发送功能是否正常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90164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13475-4885-02C4-F65E-B9509F10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F6B9D2-E46A-0ADD-B2E4-BAF51D622B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141BBC2-4358-8B4B-D634-32C32E8164DB}"/>
              </a:ext>
            </a:extLst>
          </p:cNvPr>
          <p:cNvSpPr/>
          <p:nvPr/>
        </p:nvSpPr>
        <p:spPr>
          <a:xfrm>
            <a:off x="1016000" y="317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06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1503</Words>
  <Application>Microsoft Office PowerPoint</Application>
  <PresentationFormat>宽屏</PresentationFormat>
  <Paragraphs>185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EDY</cp:lastModifiedBy>
  <cp:revision>3</cp:revision>
  <dcterms:modified xsi:type="dcterms:W3CDTF">2026-07-10T08:28:33Z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{"Label":"1","ContentProducer":"001191110102MACQD9K64010000","ProduceID":"7660761081069882326","ReservedCode1":"","ContentPropagator":"","PropagateID":"","ReservedCode2":""}</vt:lpwstr>
  </property>
</Properties>
</file>